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9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61" r:id="rId213"/>
    <p:sldId id="460" r:id="rId212"/>
    <p:sldId id="462" r:id="rId2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1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1" Type="http://schemas.openxmlformats.org/officeDocument/2006/relationships/slide" Target="slides/slide188.xml"/><Relationship Id="rId202" Type="http://schemas.openxmlformats.org/officeDocument/2006/relationships/slide" Target="slides/slide189.xml"/><Relationship Id="rId203" Type="http://schemas.openxmlformats.org/officeDocument/2006/relationships/slide" Target="slides/slide190.xml"/><Relationship Id="rId204" Type="http://schemas.openxmlformats.org/officeDocument/2006/relationships/slide" Target="slides/slide191.xml"/><Relationship Id="rId205" Type="http://schemas.openxmlformats.org/officeDocument/2006/relationships/slide" Target="slides/slide192.xml"/><Relationship Id="rId206" Type="http://schemas.openxmlformats.org/officeDocument/2006/relationships/slide" Target="slides/slide193.xml"/><Relationship Id="rId207" Type="http://schemas.openxmlformats.org/officeDocument/2006/relationships/slide" Target="slides/slide194.xml"/><Relationship Id="rId208" Type="http://schemas.openxmlformats.org/officeDocument/2006/relationships/slide" Target="slides/slide195.xml"/><Relationship Id="rId209" Type="http://schemas.openxmlformats.org/officeDocument/2006/relationships/slide" Target="slides/slide196.xml"/><Relationship Id="rId212" Type="http://schemas.openxmlformats.org/officeDocument/2006/relationships/slide" Target="slides/slide197.xml"/><Relationship Id="rId213" Type="http://schemas.openxmlformats.org/officeDocument/2006/relationships/slide" Target="slides/slide198.xml"/><Relationship Id="rId214" Type="http://schemas.openxmlformats.org/officeDocument/2006/relationships/slide" Target="slides/slide19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Static</c:v>
                </c:pt>
                <c:pt idx="1">
                  <c:v>Variable</c:v>
                </c:pt>
                <c:pt idx="2">
                  <c:v>Testable</c:v>
                </c:pt>
                <c:pt idx="3">
                  <c:v>Bounded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58</c:v>
                </c:pt>
                <c:pt idx="2">
                  <c:v>84</c:v>
                </c:pt>
                <c:pt idx="3">
                  <c:v>96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confidence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One source</c:v>
                </c:pt>
                <c:pt idx="1">
                  <c:v>Two sources</c:v>
                </c:pt>
                <c:pt idx="2">
                  <c:v>Conflict check</c:v>
                </c:pt>
                <c:pt idx="3">
                  <c:v>User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79</c:v>
                </c:pt>
                <c:pt idx="3">
                  <c:v>94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index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Data</c:v>
                </c:pt>
                <c:pt idx="1">
                  <c:v>Product</c:v>
                </c:pt>
                <c:pt idx="2">
                  <c:v>Technical</c:v>
                </c:pt>
                <c:pt idx="3">
                  <c:v>Governance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48</c:v>
                </c:pt>
                <c:pt idx="2">
                  <c:v>63</c:v>
                </c:pt>
                <c:pt idx="3">
                  <c:v>81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accepted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Idea</c:v>
                </c:pt>
                <c:pt idx="1">
                  <c:v>Problem</c:v>
                </c:pt>
                <c:pt idx="2">
                  <c:v>Constraints</c:v>
                </c:pt>
                <c:pt idx="3">
                  <c:v>Examples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58</c:v>
                </c:pt>
                <c:pt idx="2">
                  <c:v>77</c:v>
                </c:pt>
                <c:pt idx="3">
                  <c:v>91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passed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Core</c:v>
                </c:pt>
                <c:pt idx="2">
                  <c:v>Edge</c:v>
                </c:pt>
                <c:pt idx="3">
                  <c:v>Adversarial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81</c:v>
                </c:pt>
                <c:pt idx="2">
                  <c:v>62</c:v>
                </c:pt>
                <c:pt idx="3">
                  <c:v>43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index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Prompt</c:v>
                </c:pt>
                <c:pt idx="1">
                  <c:v>Single agent</c:v>
                </c:pt>
                <c:pt idx="2">
                  <c:v>Workflow</c:v>
                </c:pt>
                <c:pt idx="3">
                  <c:v>Multi-agent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78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confidence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Offline</c:v>
                </c:pt>
                <c:pt idx="1">
                  <c:v>Internal</c:v>
                </c:pt>
                <c:pt idx="2">
                  <c:v>Pilot</c:v>
                </c:pt>
                <c:pt idx="3">
                  <c:v>Expanded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61</c:v>
                </c:pt>
                <c:pt idx="2">
                  <c:v>79</c:v>
                </c:pt>
                <c:pt idx="3">
                  <c:v>93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 trace</c:v>
                </c:pt>
                <c:pt idx="1">
                  <c:v>Logs</c:v>
                </c:pt>
                <c:pt idx="2">
                  <c:v>Metrics</c:v>
                </c:pt>
                <c:pt idx="3">
                  <c:v>Linked alerts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66</c:v>
                </c:pt>
                <c:pt idx="2">
                  <c:v>41</c:v>
                </c:pt>
                <c:pt idx="3">
                  <c:v>18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review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Suggest</c:v>
                </c:pt>
                <c:pt idx="1">
                  <c:v>Draft</c:v>
                </c:pt>
                <c:pt idx="2">
                  <c:v>Commit</c:v>
                </c:pt>
                <c:pt idx="3">
                  <c:v>External action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67</c:v>
                </c:pt>
                <c:pt idx="3">
                  <c:v>100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https://github.com/tertiarycourses/C840-AI-for-Product-Development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ms-tms.tertiaryinfotech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tertiarycourses/C840-AI-for-Product-Developmen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chart" Target="../charts/char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chart" Target="../charts/chart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Relationship Id="rId3" Type="http://schemas.openxmlformats.org/officeDocument/2006/relationships/chart" Target="../charts/chart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Relationship Id="rId3" Type="http://schemas.openxmlformats.org/officeDocument/2006/relationships/chart" Target="../charts/char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Relationship Id="rId3" Type="http://schemas.openxmlformats.org/officeDocument/2006/relationships/chart" Target="../charts/char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Relationship Id="rId3" Type="http://schemas.openxmlformats.org/officeDocument/2006/relationships/chart" Target="../charts/chart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Relationship Id="rId3" Type="http://schemas.openxmlformats.org/officeDocument/2006/relationships/chart" Target="../charts/chart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25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NON-WSQ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528523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0D3056"/>
                </a:solidFill>
                <a:latin typeface="Arial"/>
              </a:rPr>
              <a:t>AI for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2608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875C4"/>
                </a:solidFill>
                <a:latin typeface="Arial"/>
              </a:rPr>
              <a:t>Discover → design → deploy →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480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C840  |  v1.0  |  2 days / 15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36592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577"/>
                </a:solidFill>
                <a:latin typeface="Arial"/>
              </a:rPr>
              <a:t>Tertiary Infotech Academy Pte. Ltd.
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6986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Mechanism-led courseware • Twelve self-contained activities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 ·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Complete this profile before facilitating the agentic AI product-development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Name: 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Title / designation: 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Qualifications: 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AI product and facilitation experience: ____________________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Doctorate-level 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AI, data, cloud and automation curriculum leadership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Industry-oriented implementation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Focus: explainable, governed technical outcomes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Connect your existing role to one software or knowledge-work automation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Role and organisation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Current development or operations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repeated process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risk you want the agent to control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governed experimentation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Use synthetic or approved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Never paste live secrets into prompts or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Keep consequential actions behind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Challenge completion claims with observable evidence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Non-WSQ course by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Course code: C840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Duration: 2 days / 15 instructional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Daily schedule: 9:30am – 5:30pm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Version: v1.0 / 1 October 2026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Evaluate opportunities and design evidence-grounded agentic product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Product opportunity and JTBD framing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Builder comparison and readiness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Research evidence and persona 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Activities 01–06: discovery through AI-ready PRD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Optimise, deploy and govern an agentic product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Prompt contracts, evaluation sets and iteration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Deployment architecture, security and human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KPI feedback loops and risk-adjusted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Activities 07–12: evaluation set through executive recommendation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Download course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the LMS course record as the single verified entry point for learner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Sign in at lms-tms.tertiaryinfotech.com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Open AI for Product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Select Course Material and confirm C840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Download slides, Learner Guide and activity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6053328"/>
            <a:ext cx="8915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  <a:hlinkClick r:id="rId3"/>
              </a:rPr>
              <a:t>https://lms-tms.tertiaryinfotech.com/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Twelve self-contained activity folders carry the complete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the individual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only the supplied mock data and YAML brief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Follow detailed steps in the Learner Guide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Record evidence in the folder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806440"/>
            <a:ext cx="8915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875C4"/>
                </a:solidFill>
                <a:latin typeface="Arial"/>
                <a:hlinkClick r:id="rId3"/>
              </a:rPr>
              <a:t>https://github.com/tertiarycourses/C840-AI-for-Product-Development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Evaluating Agentic AI Tools for Product Research and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Identify a product opportunity, map it to a suitable agentic pattern, and compare builders using evidence, readiness and total-cost criteria.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AGENTIC PRODUCT LOOP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Evidence and opportunity scope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Outcome, users and constraints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Thin prototype and workflow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Evaluation and next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roduct-discovery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a multi-step loop, tool boundary and stop condition before calling a system agentic.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Goal completion rate with valid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Trace showing plan, tool result and final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Discover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concept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Deliver prototype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Learn in 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hypothesis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artifact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Automation is applied everywhere without a clear decision or owner.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Map each agent task to one lifecycle decision and accountable role.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lifecycle stages with a named human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Lifecycle map with task-owner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Observe friction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Quantify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Frame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team automates an interesting task that is not a material user problem.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Start with observable friction and a measurable outcome, not a tool demonstration.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Validated problem statements / total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Opportunity brief with baseline and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Capture situation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Expose obstacle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success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situation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Personas become demographics without decision-relevant needs.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Write needs as progress users seek in a real context.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research observations linked to a user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JTBD statement linked to verbatim research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Gather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Triangulate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Synthesize insight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produces polished synthesis from weak or circular evidence.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source provenance, claim-level support and uncertainty labels.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material claims supported by two independent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Research ledger and cited insight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peers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criteria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Collect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Compare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criterion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Different evidence standards make the comparison misleading.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Freeze the same criteria and observation date before collection.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Comparable criteria populated per competitor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Timestamped comparison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Ingest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Cluster themes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outliers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Prioritise need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outlier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priority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dominant-sounding summary hides minority but critical needs.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Retain row-level traceability and inspect negative cases separately.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themes traceable to source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Theme table with supporting and contradicting excerpts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Group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 persona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Label 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Plan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assumption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Generated personas are treated as facts about real users.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Mark inferred attributes and separate evidence from hypothesis.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High-risk assumptions with a validation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Persona card plus assumption 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use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Shortlist builders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common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use_case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test_case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Feature lists replace direct comparison on the intended task.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Run the same input, output and constraints across every candidate.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Weighted score on a common golden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Paired trial results and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variability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pattern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override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variability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override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Autonomy is added where a predictable workflow would be safer and cheaper.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the simplest architecture that satisfies variability and judgment needs.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high-risk steps on deterministic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Pattern decision with rejected alternatives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Clarify advantage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Estimate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Model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advantage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capability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ownership_cost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Subscription price is compared with in-house build cost while integration and governance are ignored.</a:t>
            </a:r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Include change, integration, assurance and exit costs.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Risk-adjusted value over total cost of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Three-option decision table with sensitivity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List capabilities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Plan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Sequence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tool is selected before data access, ownership and evaluation skills exist.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Gate pilot entry on minimum data, product, technical and risk capabilities.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Critical readiness gaps closed before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Readiness heatmap and action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Weight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sensitivity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weight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sensitivity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predetermined winner is justified with arbitrary weights.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Agree criteria before testing and show how weight changes affect the result.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Recommendation stability across plausible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Weighted matrix, caveats and decision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Discovery boundary: evidence, agent synthesis and accountable human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Collect and
triangulate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Synthesize and
expose uncertainty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Prioritise need
and own decision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Opportunity state: OBSERVED, FRAMED, TESTED and PRIORITISED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FRAMED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TESTED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PRIORITISED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PRIORITISED means the opportunity is supported by evidence, not presentation polish.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Research evidence chain: source → claim → insight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source_id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research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claim_id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atomic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insight_id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synthesised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product 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discovery decision is explainable when each insight resolves to source evidence.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Discovery failure taxonomy: bias, gaps, conflict and overclaim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broaden sampling and segment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collect missing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CONFLICT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retain competing explanations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OVERCLAIM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lower confidence and validate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Agent fit rises with variability and verifiability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Agentic AI fits work that is variable enough to need judgment but bounded enough to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coverage raises discovery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Discovery confidence rises when claims survive triangulation, conflict review and user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Readiness gaps increase pilot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Builder selection depends on organisational readiness as much as product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Frame a Product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Turn synthetic stakeholder notes into a measurable agentic-AI opportunity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Completed opportunity brief and assumption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activities/activity-01-opportunity-brief/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Inspect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Name 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Quantify friction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List assumptions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Every claim traces to a source row; the outcome is measurable; high-risk assumptions have named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Compare Agentic AI Builders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Run a common product-research task across three synthetic builder profiles and select a fit-for-purpose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Weighted builder comparison with sensitivity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activities/activity-02-builder-comparison/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Freeze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builders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Apply weights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sensitivity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Scores use one common task, weights total 100%, and the recommendation survives or explains sensitivity.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Build a Research Evidence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Transform mock market and competitor records into a traceable, uncertainty-aware insight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 ledger, competitor matrix and three prioritised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activities/activity-03-research-evidence-pack/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Load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Normalise 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Triangulate claims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Flag conflict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Rank insight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Cite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Material insights cite at least two records or explicitly state single-source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Create Persona and JTBD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Derive evidence-based personas and jobs-to-be-done without presenting generated assumptions as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Two persona cards, JTBD statements and validation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activities/activity-04-persona-jtbd-map/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Cluster 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Draft persona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JTBD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Label inference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Rank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Plan 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Persona needs trace to source IDs; assumptions are labelled; each risky assumption has a feasible validation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Building and Optimising Agentic Product Development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Translate product intent into bounded agent roles, specifications, hand-offs, evaluation sets and an iterative prototype workflow that improves with evidence.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Interpret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next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Act through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Observe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next_action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loops without progress or stops on a plausible narrative.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explicit budgets, stop conditions and observable state transitions.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loops ending in a verified stop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Loop trace with terminal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vision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fills missing business context with generic assumptions.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Version a compact context packet and expose unknowns explicitly.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Required context fields present before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Context file and assumption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Describe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boundaries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Specify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non_goals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specification dictates implementation while leaving success ambiguous.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Describe what must be true and what must not change.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acceptance criteria observable by 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PRD section with testable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intent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Explain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examples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story is marked complete when only the happy path works.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Attach concrete examples and negative conditions to each story.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stories with positive, edge and failure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Story map with example-based acceptance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stages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Locate friction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agent 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Keep human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friction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agent_role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workflow optimises speed while weakening trust at critical moments.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Preserve recovery, explanation and control at consequential journey points.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high-consequence moments with human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Journey map with agent and human swimlanes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Bound one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Connect minimal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multi-agent design is introduced before a simpler baseline is measured.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Prove the minimum viable agent before adding roles.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Accepted tasks per 20-case evaluation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Baseline run log and failure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Decompose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Limit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coordinator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coordinator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Multiple agents duplicate work and amplify inconsistent assumptions.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Give each role distinct inputs, output schema and decision rights.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Handoffs that add unique value / total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Role charter and responsibility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Perform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Emit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Acknowledge receipt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input_schema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Free-form outputs break downstream steps or lose provenance.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stable identifiers, structured outputs and fail-closed validation.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handoffs passing schema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Handoff record with validation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Retrieve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Cite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citation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uses stale, irrelevant or untrusted material as product truth.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Constrain sources, retain citations and test retrieval misses.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answer claims grounded in approved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Retrieved evidence linked to output 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Provide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format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long prompt hides conflicting instructions and undefined priorities.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Separate goal, context, rules, examples and output contract.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First-pass outputs meeting all contract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Prompt version and conformance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Sample real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edge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expected traits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Teams judge prototypes from one impressive demonstration.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Build a representative frozen set before optimisation.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Coverage across core, edge and adversarial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Versioned evaluation CSV and score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Find causal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one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Re-run 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failure_type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delta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Several prompt, model and data changes are bundled, obscuring causality.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Change one causal layer per experiment and re-run the full frozen set.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Improvement on failed cases without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Experiment ledger with before-after deltas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PROTOTYPE LEARNING SURFACE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Create the thinnest useful slice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Observe representative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Separate signal from opinion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Continue, pivot or stop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rototype-test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Time-box builds and define the decision each prototype must unlock.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Validated assumptions per prototype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Experiment brief and go-pivot-stop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Workflow boundary: context, agent roles and human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Define outcome
and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Coordinate roles
and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Review evidence
and consequence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Prototype state: DEFINED, BUILT, TESTED and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DEFINED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BUILT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TESTED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LEARNED means the prototype changed or confirmed a product hypothesis.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Product evidence chain: requirement → prototype → evaluation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requirement_id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intended behavior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prototype_id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testable artifact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eval_run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observed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next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prototype decision is credible when requirements, tests and learning remain connected.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Optimisation taxonomy: context, handoff, quality and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missing product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HANDOFF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restore schema and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target the causal prompt or data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REGRESSION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re-run the frozen evaluation set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Structured context improves first-pass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Product context, constraints and examples improve first-pass usefulness.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Frozen evaluations expose real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 frozen evaluation set prevents teams from moving the goalposts during optimisation.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Workflow complexity expands coordination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More agent roles add coordination cost and must earn their place through measured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Design an Agent Workflow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Map a product-discovery task into an agentic loop with tools, state, stop conditions and human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Workflow canvas and responsibility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activities/activity-05-agent-workflow-canvas/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stages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schemas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gates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stop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Every stage has an owner and observable output; consequential actions stop for human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Create an AI-Ready PRD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Convert an opportunity brief into outcome-focused requirements, user stories and acceptance examples.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Lean PRD, story map and acceptance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activities/activity-06-prd-and-user-stories/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Restate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stories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examples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non-goals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Review gaps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Requirements are testable, non-goals are explicit, and every priority story has three acceptance examples.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Engineer a Prompt and Evaluation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structured prompt contract and a frozen evaluation set for a product-feedback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Versioned prompt, 20-case evaluation CSV and scoring 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activities/activity-07-prompt-evaluation-set/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Sample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edges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Freeze rubric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Record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evaluation set covers all segments; scoring rules are reproducible; baseline failures are retained.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Run a Prototype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Evaluate a synthetic agent prototype, classify failures and recommend one causal improvement.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Experiment ledger with before-after scores and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activities/activity-08-prototype-experiment/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Classify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Change one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Re-run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Decide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change targets one causal layer, the frozen set is preserved, and regression risk is documented.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Deploying and Evaluating Agentic AI-Powered Product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Design a deployment posture that preserves human control, security, observability, cost discipline and a production feedback loop.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PRODUCTION READINESS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Validate user and business outcome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Pass frozen and live evaluations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Instrument cost, latency and risk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Bind rollout to human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overned-deployment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Separate learning code from supported production architecture and evidence.</a:t>
            </a:r>
          </a:p>
        </p:txBody>
      </p:sp>
    </p:spTree>
  </p:cSld>
  <p:transition spd="med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Required gates passed before production investment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Handoff pack with eval set, edge cases and prompt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user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channel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Design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channel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easiest integration is chosen despite poor user context or control.</a:t>
            </a:r>
          </a:p>
        </p:txBody>
      </p:sp>
    </p:spTree>
  </p:cSld>
  <p:transition spd="med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Compare web, workspace, messaging and embedded channels on task and risk.</a:t>
            </a:r>
          </a:p>
        </p:txBody>
      </p:sp>
    </p:spTree>
  </p:cSld>
  <p:transition spd="med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Task completion and recovery rate by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Channel matrix and fallback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Receive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Orchestrate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Access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request_id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audit_event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Model calls, tool actions and user decisions cannot be correlated.</a:t>
            </a:r>
          </a:p>
        </p:txBody>
      </p:sp>
    </p:spTree>
  </p:cSld>
  <p:transition spd="med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Carry a stable request identifier through every component.</a:t>
            </a:r>
          </a:p>
        </p:txBody>
      </p:sp>
    </p:spTree>
  </p:cSld>
  <p:transition spd="med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transactions traceable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Architecture diagram and correlated 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Authenticate caller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Execute bounded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Return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Loose integrations permit malformed or over-broad actions.</a:t>
            </a:r>
          </a:p>
        </p:txBody>
      </p:sp>
    </p:spTree>
  </p:cSld>
  <p:transition spd="med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typed schemas, idempotency and explicit error states.</a:t>
            </a:r>
          </a:p>
        </p:txBody>
      </p:sp>
    </p:spTree>
  </p:cSld>
  <p:transition spd="med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requests with schema-valid input and explicit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API contract and negative-test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Specify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interfaces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Operate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prompting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Natural-language prototyping is assumed to replace integration and operational expertise.</a:t>
            </a:r>
          </a:p>
        </p:txBody>
      </p:sp>
    </p:spTree>
  </p:cSld>
  <p:transition spd="med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Plan the product, prompt, data, integration, testing and operations skills explicitly.</a:t>
            </a:r>
          </a:p>
        </p:txBody>
      </p:sp>
    </p:spTree>
  </p:cSld>
  <p:transition spd="med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Critical skill roles assigned with accountable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Skills matrix and gap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Minimise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Protect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Audit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permission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Prompt injection or excess permissions turn untrusted content into consequential actions.</a:t>
            </a:r>
          </a:p>
        </p:txBody>
      </p:sp>
    </p:spTree>
  </p:cSld>
  <p:transition spd="med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Layer input controls, tool allowlists, approval and monitoring.</a:t>
            </a:r>
          </a:p>
        </p:txBody>
      </p:sp>
    </p:spTree>
  </p:cSld>
  <p:transition spd="med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sensitive paths protected by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Threat model, permission map and tested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consequence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confidence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Route exception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nominal approval step becomes routine click-through.</a:t>
            </a:r>
          </a:p>
        </p:txBody>
      </p:sp>
    </p:spTree>
  </p:cSld>
  <p:transition spd="med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Show the evidence and consequence at the point of decision.</a:t>
            </a:r>
          </a:p>
        </p:txBody>
      </p:sp>
    </p:spTree>
  </p:cSld>
  <p:transition spd="med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consequential actions with meaningful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Approval log tied to current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Instrument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Compute 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Segment 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Trigger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Usage growth masks falling answer quality or rising correction work.</a:t>
            </a:r>
          </a:p>
        </p:txBody>
      </p:sp>
    </p:spTree>
  </p:cSld>
  <p:transition spd="med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Pair business outcomes with reliability, safety and experience measures.</a:t>
            </a:r>
          </a:p>
        </p:txBody>
      </p:sp>
    </p:spTree>
  </p:cSld>
  <p:transition spd="med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North-star outcome plus quality, cost and risk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Metric tree and alert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Load full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frontier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cheapest or fastest model is chosen without quality-adjusted comparison.</a:t>
            </a:r>
          </a:p>
        </p:txBody>
      </p:sp>
    </p:spTree>
  </p:cSld>
  <p:transition spd="med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Compare only configurations meeting minimum quality and risk thresholds.</a:t>
            </a:r>
          </a:p>
        </p:txBody>
      </p:sp>
    </p:spTree>
  </p:cSld>
  <p:transition spd="med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Accepted outcome cost at target response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Pareto chart and selected operating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Sample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Release repair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Offline evals remain green while live inputs drift.</a:t>
            </a:r>
          </a:p>
        </p:txBody>
      </p:sp>
    </p:spTree>
  </p:cSld>
  <p:transition spd="med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Combine frozen regression sets with representative live sampling.</a:t>
            </a:r>
          </a:p>
        </p:txBody>
      </p:sp>
    </p:spTree>
  </p:cSld>
  <p:transition spd="med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production samples scored and actioned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Eval dashboard and linked repair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Pilot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Train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Expand gradually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Retire safely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enablement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big-bang launch creates unmanaged behavior and support load.</a:t>
            </a:r>
          </a:p>
        </p:txBody>
      </p:sp>
    </p:spTree>
  </p:cSld>
  <p:transition spd="med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staged rollout, telemetry, support playbooks and rollback criteria.</a:t>
            </a:r>
          </a:p>
        </p:txBody>
      </p:sp>
    </p:spTree>
  </p:cSld>
  <p:transition spd="med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Cohorts expanded only after approved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Rollout plan with go/no-go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Detect uncertainty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Explain limit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Offer 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Learn from feedback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uncertainty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product hides uncertainty or traps users in repeated bad answers.</a:t>
            </a:r>
          </a:p>
        </p:txBody>
      </p:sp>
    </p:spTree>
  </p:cSld>
  <p:transition spd="med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Design honest limits, user control and a path to human help.</a:t>
            </a:r>
          </a:p>
        </p:txBody>
      </p:sp>
    </p:spTree>
  </p:cSld>
  <p:transition spd="med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Successful recovery rate after agent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Failure-state prototype and feedback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Quantify benefit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Price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Recommend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recommendation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business case counts automation savings but excludes oversight, incidents and change cost.</a:t>
            </a:r>
          </a:p>
        </p:txBody>
      </p:sp>
    </p:spTree>
  </p:cSld>
  <p:transition spd="med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risk-adjusted scenarios and issue a pilot, expand, hold or stop decision.</a:t>
            </a:r>
          </a:p>
        </p:txBody>
      </p:sp>
    </p:spTree>
  </p:cSld>
  <p:transition spd="med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Net value remains positive under downside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Executive decision memo with conditions and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Deployment boundary: product, platform and accountable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Set value and
experience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Operate agent
and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rollout
and exceptions</a:t>
            </a:r>
          </a:p>
        </p:txBody>
      </p:sp>
    </p:spTree>
  </p:cSld>
  <p:transition spd="med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Adoption state: PILOT, EXPAND, HOLD and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PILOT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EXPAND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HOLD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The adoption posture records evidence, conditions, owner and review date.</a:t>
            </a:r>
          </a:p>
        </p:txBody>
      </p:sp>
    </p:spTree>
  </p:cSld>
  <p:transition spd="med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Production evidence chain: request → trace → metric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user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trace_id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agent and tool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metric_set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quality and guardrails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rollout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production recommendation is defensible when every metric resolves to a trace and owner.</a:t>
            </a:r>
          </a:p>
        </p:txBody>
      </p:sp>
    </p:spTree>
  </p:cSld>
  <p:transition spd="med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Deployment taxonomy: quality, reliability, cost and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causal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RELIABILITY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repeat and segment trials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optimise within guardrails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hold for accountable decision</a:t>
            </a:r>
          </a:p>
        </p:txBody>
      </p:sp>
    </p:spTree>
  </p:cSld>
  <p:transition spd="med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Staged rollout increases decision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Staged rollout converts production evidence into a safer expansion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Observability shortens recovery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Linked traces, metrics and alerts shorten the path from symptom to accountable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Human oversight rises with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Human oversight should increase with the consequence and reversibility of the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Select a Deployment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Compare channel and architecture options for an agentic product using task, integration and risk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Deployment matrix, reference architecture and fallback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activities/activity-09-deployment-decision/</a:t>
            </a:r>
          </a:p>
        </p:txBody>
      </p:sp>
    </p:spTree>
  </p:cSld>
  <p:transition spd="med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Compare 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Select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fallback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Cost 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Approve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selected option meets task, integration, safety and recovery thresholds; caveats are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Conduct a Risk and Control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Threat-model an agent workflow and assign layered controls, evidence and owners.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 register, permission map and control test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activities/activity-10-risk-control-review/</a:t>
            </a:r>
          </a:p>
        </p:txBody>
      </p:sp>
    </p:spTree>
  </p:cSld>
  <p:transition spd="med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Identify threats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Select controls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High risks have preventive and detective controls, named owners and testable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Design KPI and Feedback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metric tree and monitoring view that balances business value, quality, experience, cost and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KPI tree, alert table and feedback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activities/activity-11-kpi-feedback-dashboard/</a:t>
            </a:r>
          </a:p>
        </p:txBody>
      </p:sp>
    </p:spTree>
  </p:cSld>
  <p:transition spd="med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thresholds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Review 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Metrics have formulas, data sources, thresholds, segments and action owners; no vanity-only measure drives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Deliver a Governed Product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Synthesize value, evaluation, readiness and risk evidence into an executive pilot, expand, hold or stop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One-page decision memo and 90-day rollout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activities/activity-12-executive-recommendation/</a:t>
            </a:r>
          </a:p>
        </p:txBody>
      </p:sp>
    </p:spTree>
  </p:cSld>
  <p:transition spd="med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Summarise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Compare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Price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downside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conditions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recommendation is traceable to evidence, survives a downside scenario, and has measurable exit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END-TO-END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80820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08760"/>
            <a:ext cx="493776" cy="49377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08760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81328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LO1 Evaluate agentic AI builders for product research and development, comparing strengths, limitations, resources and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51176"/>
            <a:ext cx="1080820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06624"/>
            <a:ext cx="493776" cy="49377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06624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67919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LO2 Apply optimisation techniques to improve the efficiency, quality and control of agentic product-development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08208" cy="8412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04487"/>
            <a:ext cx="493776" cy="49377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04487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877055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LO3 Evaluate the benefits and trade-offs of deploying agentic AI-powered product solutions and recommend a governed path forward.</a:t>
            </a:r>
          </a:p>
        </p:txBody>
      </p:sp>
    </p:spTree>
  </p:cSld>
  <p:transition spd="med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the LMS for learner resources and course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your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Confirm the course title and code before downloading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Ask the trainer if access is blocked</a:t>
            </a:r>
          </a:p>
        </p:txBody>
      </p:sp>
    </p:spTree>
  </p:cSld>
  <p:transition spd="med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Agentic product controls that must remain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Automation is complete only when governance travels with the product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Every agent role has a bounded goal and authority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handoff preserves source and state provenance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consequential action has a named human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release claim resolves to evaluation evidence</a:t>
            </a:r>
          </a:p>
        </p:txBody>
      </p:sp>
    </p:spTree>
  </p:cSld>
  <p:transition spd="med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Tell us how the course worked for you before you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Complete the course feedback survey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Tell us what worked well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Suggest what we can improve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Your certificate of completion is emailed after the course</a:t>
            </a:r>
          </a:p>
        </p:txBody>
      </p:sp>
    </p:spTree>
  </p:cSld>
  <p:transition spd="med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References and further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AI for Product Development  •  C840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The course synthesises the original deck with both supplied eBooks and current primary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AI Product Management — Aman Khan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Building AI-Powered Products — Marily Nika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Anthropic — Building effective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Google PAIR — People + AI Guidebook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56631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5266944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02936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NIST — AI Risk Management 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056631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55664" y="5266944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5202936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Tertiary Courses — current course specification</a:t>
            </a:r>
          </a:p>
        </p:txBody>
      </p:sp>
    </p:spTree>
  </p:cSld>
  <p:transition spd="med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Build agentic products that can prove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Evidence before completion  •  Human approval before consequence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2928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10912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81328" y="3493008"/>
            <a:ext cx="1335024" cy="13350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INSPECT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3493008"/>
            <a:ext cx="1335024" cy="13350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4" name="Oval 13"/>
          <p:cNvSpPr/>
          <p:nvPr/>
        </p:nvSpPr>
        <p:spPr>
          <a:xfrm>
            <a:off x="5797296" y="3493008"/>
            <a:ext cx="1335024" cy="13350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493008"/>
            <a:ext cx="1335024" cy="13350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13832"/>
            <a:ext cx="9738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Dr Alfred Ang  |  Tertiary Infotech Academy Pte. Ltd.
C840  •  v1.0  •  1 October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Product Development</dc:title>
  <dc:subject>C840</dc:subject>
  <dc:creator>Tertiary Infotech Academy Pte. Ltd.</dc:creator>
  <cp:keywords/>
  <dc:description>Highly visual mechanism-led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